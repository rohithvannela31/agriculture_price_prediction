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3A5F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F3A5F"/>
                </a:solidFill>
                <a:latin typeface="+mn-lt"/>
              </a:rPr>
              <a:t>Predicted modal price by month, 2026 (Rs/kg)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Predicted modal price (Rs/kg)</c:v>
                </c:pt>
              </c:strCache>
            </c:strRef>
          </c:tx>
          <c:spPr>
            <a:solidFill>
              <a:srgbClr val="2E7D5B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24.14</c:v>
                </c:pt>
                <c:pt idx="1">
                  <c:v>16.5</c:v>
                </c:pt>
                <c:pt idx="2">
                  <c:v>15.26</c:v>
                </c:pt>
                <c:pt idx="3">
                  <c:v>16.04</c:v>
                </c:pt>
                <c:pt idx="4">
                  <c:v>21.39</c:v>
                </c:pt>
                <c:pt idx="5">
                  <c:v>24.7</c:v>
                </c:pt>
                <c:pt idx="6">
                  <c:v>27.43</c:v>
                </c:pt>
                <c:pt idx="7">
                  <c:v>32.06</c:v>
                </c:pt>
                <c:pt idx="8">
                  <c:v>37.5</c:v>
                </c:pt>
                <c:pt idx="9">
                  <c:v>38.22</c:v>
                </c:pt>
                <c:pt idx="10">
                  <c:v>34.23</c:v>
                </c:pt>
                <c:pt idx="11">
                  <c:v>30.58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F29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3E8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7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LAYOUT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chemeClr val="accent1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LAYOU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0"/>
                </a:solidFill>
              </a:rPr>
              <a:t>Agricultural Commodity Price Analysis</a:t>
            </a:r>
            <a:endParaRPr lang="en-US" sz="90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7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7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40080" y="146304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Agricultural Commodity Price Analysis in India Using R</a:t>
            </a:r>
            <a:endParaRPr lang="en-US" sz="3400" dirty="0"/>
          </a:p>
        </p:txBody>
      </p:sp>
      <p:sp>
        <p:nvSpPr>
          <p:cNvPr id="3" name="Subtitle"/>
          <p:cNvSpPr txBox="1"/>
          <p:nvPr/>
        </p:nvSpPr>
        <p:spPr>
          <a:xfrm>
            <a:off x="640080" y="30175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2"/>
                </a:solidFill>
              </a:rPr>
              <a:t>Time-series forecasting with Baseline, Moving Average and SARIMA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What we are going to do</a:t>
            </a:r>
            <a:endParaRPr lang="en-US" sz="2400" dirty="0"/>
          </a:p>
        </p:txBody>
      </p:sp>
      <p:sp>
        <p:nvSpPr>
          <p:cNvPr id="3" name="Plan 1 card"/>
          <p:cNvSpPr/>
          <p:nvPr/>
        </p:nvSpPr>
        <p:spPr>
          <a:xfrm>
            <a:off x="457200" y="1188720"/>
            <a:ext cx="2606040" cy="26517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Plan 1 accent"/>
          <p:cNvSpPr/>
          <p:nvPr/>
        </p:nvSpPr>
        <p:spPr>
          <a:xfrm>
            <a:off x="457200" y="1188720"/>
            <a:ext cx="54864" cy="265176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Plan 1 head"/>
          <p:cNvSpPr txBox="1"/>
          <p:nvPr/>
        </p:nvSpPr>
        <p:spPr>
          <a:xfrm>
            <a:off x="658368" y="13258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1. Explore</a:t>
            </a:r>
            <a:endParaRPr lang="en-US" sz="1500" dirty="0"/>
          </a:p>
        </p:txBody>
      </p:sp>
      <p:sp>
        <p:nvSpPr>
          <p:cNvPr id="6" name="Plan 1 body"/>
          <p:cNvSpPr txBox="1"/>
          <p:nvPr/>
        </p:nvSpPr>
        <p:spPr>
          <a:xfrm>
            <a:off x="658368" y="1828800"/>
            <a:ext cx="22402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Study how prices changed over time using summary statistics, a month-by-year heatmap and yearly averages.</a:t>
            </a:r>
            <a:endParaRPr lang="en-US" sz="1400" dirty="0"/>
          </a:p>
        </p:txBody>
      </p:sp>
      <p:sp>
        <p:nvSpPr>
          <p:cNvPr id="7" name="Plan 2 card"/>
          <p:cNvSpPr/>
          <p:nvPr/>
        </p:nvSpPr>
        <p:spPr>
          <a:xfrm>
            <a:off x="3268980" y="1188720"/>
            <a:ext cx="2606040" cy="26517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Plan 2 accent"/>
          <p:cNvSpPr/>
          <p:nvPr/>
        </p:nvSpPr>
        <p:spPr>
          <a:xfrm>
            <a:off x="3268980" y="1188720"/>
            <a:ext cx="54864" cy="265176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Plan 2 head"/>
          <p:cNvSpPr txBox="1"/>
          <p:nvPr/>
        </p:nvSpPr>
        <p:spPr>
          <a:xfrm>
            <a:off x="3470148" y="13258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2. Forecast</a:t>
            </a:r>
            <a:endParaRPr lang="en-US" sz="1500" dirty="0"/>
          </a:p>
        </p:txBody>
      </p:sp>
      <p:sp>
        <p:nvSpPr>
          <p:cNvPr id="10" name="Plan 2 body"/>
          <p:cNvSpPr txBox="1"/>
          <p:nvPr/>
        </p:nvSpPr>
        <p:spPr>
          <a:xfrm>
            <a:off x="3470148" y="1828800"/>
            <a:ext cx="22402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Predict monthly minimum, modal and maximum prices for a chosen state, commodity, variety and year.</a:t>
            </a:r>
            <a:endParaRPr lang="en-US" sz="1400" dirty="0"/>
          </a:p>
        </p:txBody>
      </p:sp>
      <p:sp>
        <p:nvSpPr>
          <p:cNvPr id="11" name="Plan 3 card"/>
          <p:cNvSpPr/>
          <p:nvPr/>
        </p:nvSpPr>
        <p:spPr>
          <a:xfrm>
            <a:off x="6080760" y="1188720"/>
            <a:ext cx="2606040" cy="26517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Plan 3 accent"/>
          <p:cNvSpPr/>
          <p:nvPr/>
        </p:nvSpPr>
        <p:spPr>
          <a:xfrm>
            <a:off x="6080760" y="1188720"/>
            <a:ext cx="54864" cy="265176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Plan 3 head"/>
          <p:cNvSpPr txBox="1"/>
          <p:nvPr/>
        </p:nvSpPr>
        <p:spPr>
          <a:xfrm>
            <a:off x="6281928" y="13258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3. Check</a:t>
            </a:r>
            <a:endParaRPr lang="en-US" sz="1500" dirty="0"/>
          </a:p>
        </p:txBody>
      </p:sp>
      <p:sp>
        <p:nvSpPr>
          <p:cNvPr id="14" name="Plan 3 body"/>
          <p:cNvSpPr txBox="1"/>
          <p:nvPr/>
        </p:nvSpPr>
        <p:spPr>
          <a:xfrm>
            <a:off x="6281928" y="1828800"/>
            <a:ext cx="22402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Measure forecast accuracy on the last 12 months of data using MAE, RMSE and MAPE.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7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Dataset</a:t>
            </a:r>
            <a:endParaRPr lang="en-US" sz="2400" dirty="0"/>
          </a:p>
        </p:txBody>
      </p:sp>
      <p:sp>
        <p:nvSpPr>
          <p:cNvPr id="3" name="Dataset bullets"/>
          <p:cNvSpPr txBox="1"/>
          <p:nvPr/>
        </p:nvSpPr>
        <p:spPr>
          <a:xfrm>
            <a:off x="457200" y="1097280"/>
            <a:ext cx="8229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Name: Daily Market Prices of Commodity India (2001–2026)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Source: Kaggle, originally from India's AGMARKNET system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Type: daily wholesale agricultural market prices (minimum, maximum and modal)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Years used in this project: 2015 to 2025, one CSV file per year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Cleaning: invalid and zero prices removed; daily prices averaged to monthly values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Prices converted from Rs per quintal to Rs per kg (divide by 100)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7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Models we are using</a:t>
            </a:r>
            <a:endParaRPr lang="en-US" sz="2400" dirty="0"/>
          </a:p>
        </p:txBody>
      </p:sp>
      <p:sp>
        <p:nvSpPr>
          <p:cNvPr id="3" name="Model 1 card"/>
          <p:cNvSpPr/>
          <p:nvPr/>
        </p:nvSpPr>
        <p:spPr>
          <a:xfrm>
            <a:off x="457200" y="1188720"/>
            <a:ext cx="2606040" cy="26517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Model 1 accent"/>
          <p:cNvSpPr/>
          <p:nvPr/>
        </p:nvSpPr>
        <p:spPr>
          <a:xfrm>
            <a:off x="457200" y="1188720"/>
            <a:ext cx="54864" cy="265176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Model 1 head"/>
          <p:cNvSpPr txBox="1"/>
          <p:nvPr/>
        </p:nvSpPr>
        <p:spPr>
          <a:xfrm>
            <a:off x="658368" y="13258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Baseline (naive)</a:t>
            </a:r>
            <a:endParaRPr lang="en-US" sz="1500" dirty="0"/>
          </a:p>
        </p:txBody>
      </p:sp>
      <p:sp>
        <p:nvSpPr>
          <p:cNvPr id="6" name="Model 1 body"/>
          <p:cNvSpPr txBox="1"/>
          <p:nvPr/>
        </p:nvSpPr>
        <p:spPr>
          <a:xfrm>
            <a:off x="658368" y="1828800"/>
            <a:ext cx="22402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Simple benchmark: every future month equals the last observed price.</a:t>
            </a:r>
            <a:endParaRPr lang="en-US" sz="1400" dirty="0"/>
          </a:p>
        </p:txBody>
      </p:sp>
      <p:sp>
        <p:nvSpPr>
          <p:cNvPr id="7" name="Model 2 card"/>
          <p:cNvSpPr/>
          <p:nvPr/>
        </p:nvSpPr>
        <p:spPr>
          <a:xfrm>
            <a:off x="3268980" y="1188720"/>
            <a:ext cx="2606040" cy="26517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Model 2 accent"/>
          <p:cNvSpPr/>
          <p:nvPr/>
        </p:nvSpPr>
        <p:spPr>
          <a:xfrm>
            <a:off x="3268980" y="1188720"/>
            <a:ext cx="54864" cy="265176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Model 2 head"/>
          <p:cNvSpPr txBox="1"/>
          <p:nvPr/>
        </p:nvSpPr>
        <p:spPr>
          <a:xfrm>
            <a:off x="3470148" y="13258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Moving average</a:t>
            </a:r>
            <a:endParaRPr lang="en-US" sz="1500" dirty="0"/>
          </a:p>
        </p:txBody>
      </p:sp>
      <p:sp>
        <p:nvSpPr>
          <p:cNvPr id="10" name="Model 2 body"/>
          <p:cNvSpPr txBox="1"/>
          <p:nvPr/>
        </p:nvSpPr>
        <p:spPr>
          <a:xfrm>
            <a:off x="3470148" y="1828800"/>
            <a:ext cx="22402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Forecast is the average of the last 3 months, rolled forward for each new month.</a:t>
            </a:r>
            <a:endParaRPr lang="en-US" sz="1400" dirty="0"/>
          </a:p>
        </p:txBody>
      </p:sp>
      <p:sp>
        <p:nvSpPr>
          <p:cNvPr id="11" name="Model 3 card"/>
          <p:cNvSpPr/>
          <p:nvPr/>
        </p:nvSpPr>
        <p:spPr>
          <a:xfrm>
            <a:off x="6080760" y="1188720"/>
            <a:ext cx="2606040" cy="26517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Model 3 accent"/>
          <p:cNvSpPr/>
          <p:nvPr/>
        </p:nvSpPr>
        <p:spPr>
          <a:xfrm>
            <a:off x="6080760" y="1188720"/>
            <a:ext cx="54864" cy="265176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Model 3 head"/>
          <p:cNvSpPr txBox="1"/>
          <p:nvPr/>
        </p:nvSpPr>
        <p:spPr>
          <a:xfrm>
            <a:off x="6281928" y="13258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SARIMA</a:t>
            </a:r>
            <a:endParaRPr lang="en-US" sz="1500" dirty="0"/>
          </a:p>
        </p:txBody>
      </p:sp>
      <p:sp>
        <p:nvSpPr>
          <p:cNvPr id="14" name="Model 3 body"/>
          <p:cNvSpPr txBox="1"/>
          <p:nvPr/>
        </p:nvSpPr>
        <p:spPr>
          <a:xfrm>
            <a:off x="6281928" y="1828800"/>
            <a:ext cx="22402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Seasonal ARIMA with a 12-month cycle. Captures trend and yearly seasonality. Fitted on log prices.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7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How we judge the models</a:t>
            </a:r>
            <a:endParaRPr lang="en-US" sz="2400" dirty="0"/>
          </a:p>
        </p:txBody>
      </p:sp>
      <p:sp>
        <p:nvSpPr>
          <p:cNvPr id="3" name="MAE card"/>
          <p:cNvSpPr/>
          <p:nvPr/>
        </p:nvSpPr>
        <p:spPr>
          <a:xfrm>
            <a:off x="457200" y="1097280"/>
            <a:ext cx="4023360" cy="17373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MAE accent"/>
          <p:cNvSpPr/>
          <p:nvPr/>
        </p:nvSpPr>
        <p:spPr>
          <a:xfrm>
            <a:off x="457200" y="1097280"/>
            <a:ext cx="54864" cy="173736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MAE head"/>
          <p:cNvSpPr txBox="1"/>
          <p:nvPr/>
        </p:nvSpPr>
        <p:spPr>
          <a:xfrm>
            <a:off x="658368" y="12344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MAE</a:t>
            </a:r>
            <a:endParaRPr lang="en-US" sz="1500" dirty="0"/>
          </a:p>
        </p:txBody>
      </p:sp>
      <p:sp>
        <p:nvSpPr>
          <p:cNvPr id="6" name="MAE body"/>
          <p:cNvSpPr txBox="1"/>
          <p:nvPr/>
        </p:nvSpPr>
        <p:spPr>
          <a:xfrm>
            <a:off x="658368" y="173736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Average miss, in Rs per kg. Lower is better.</a:t>
            </a:r>
            <a:endParaRPr lang="en-US" sz="1400" dirty="0"/>
          </a:p>
        </p:txBody>
      </p:sp>
      <p:sp>
        <p:nvSpPr>
          <p:cNvPr id="7" name="RMSE card"/>
          <p:cNvSpPr/>
          <p:nvPr/>
        </p:nvSpPr>
        <p:spPr>
          <a:xfrm>
            <a:off x="4663440" y="1097280"/>
            <a:ext cx="4023360" cy="17373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RMSE accent"/>
          <p:cNvSpPr/>
          <p:nvPr/>
        </p:nvSpPr>
        <p:spPr>
          <a:xfrm>
            <a:off x="4663440" y="1097280"/>
            <a:ext cx="54864" cy="173736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RMSE head"/>
          <p:cNvSpPr txBox="1"/>
          <p:nvPr/>
        </p:nvSpPr>
        <p:spPr>
          <a:xfrm>
            <a:off x="4864608" y="12344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RMSE</a:t>
            </a:r>
            <a:endParaRPr lang="en-US" sz="1500" dirty="0"/>
          </a:p>
        </p:txBody>
      </p:sp>
      <p:sp>
        <p:nvSpPr>
          <p:cNvPr id="10" name="RMSE body"/>
          <p:cNvSpPr txBox="1"/>
          <p:nvPr/>
        </p:nvSpPr>
        <p:spPr>
          <a:xfrm>
            <a:off x="4864608" y="173736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Like MAE, but large misses count more. Lower is better.</a:t>
            </a:r>
            <a:endParaRPr lang="en-US" sz="1400" dirty="0"/>
          </a:p>
        </p:txBody>
      </p:sp>
      <p:sp>
        <p:nvSpPr>
          <p:cNvPr id="11" name="Selection rule"/>
          <p:cNvSpPr txBox="1"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tx2"/>
                </a:solidFill>
              </a:rPr>
              <a:t>The model with the lowest RMSE on the 12-month test period is selected and refitted on all data to make the final forecast.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7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Workflow and dashboard</a:t>
            </a:r>
            <a:endParaRPr lang="en-US" sz="2400" dirty="0"/>
          </a:p>
        </p:txBody>
      </p:sp>
      <p:sp>
        <p:nvSpPr>
          <p:cNvPr id="3" name="Step 1 card"/>
          <p:cNvSpPr/>
          <p:nvPr/>
        </p:nvSpPr>
        <p:spPr>
          <a:xfrm>
            <a:off x="457200" y="1097280"/>
            <a:ext cx="2606040" cy="15087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tep 1 accent"/>
          <p:cNvSpPr/>
          <p:nvPr/>
        </p:nvSpPr>
        <p:spPr>
          <a:xfrm>
            <a:off x="457200" y="1097280"/>
            <a:ext cx="54864" cy="150876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Step 1 head"/>
          <p:cNvSpPr txBox="1"/>
          <p:nvPr/>
        </p:nvSpPr>
        <p:spPr>
          <a:xfrm>
            <a:off x="640080" y="120700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1. Load and clean</a:t>
            </a:r>
            <a:endParaRPr lang="en-US" sz="1400" dirty="0"/>
          </a:p>
        </p:txBody>
      </p:sp>
      <p:sp>
        <p:nvSpPr>
          <p:cNvPr id="6" name="Step 1 body"/>
          <p:cNvSpPr txBox="1"/>
          <p:nvPr/>
        </p:nvSpPr>
        <p:spPr>
          <a:xfrm>
            <a:off x="640080" y="1627632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Read 2015–2025 files, remove invalid prices.</a:t>
            </a:r>
            <a:endParaRPr lang="en-US" sz="1400" dirty="0"/>
          </a:p>
        </p:txBody>
      </p:sp>
      <p:sp>
        <p:nvSpPr>
          <p:cNvPr id="7" name="Step 2 card"/>
          <p:cNvSpPr/>
          <p:nvPr/>
        </p:nvSpPr>
        <p:spPr>
          <a:xfrm>
            <a:off x="3268980" y="1097280"/>
            <a:ext cx="2606040" cy="15087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tep 2 accent"/>
          <p:cNvSpPr/>
          <p:nvPr/>
        </p:nvSpPr>
        <p:spPr>
          <a:xfrm>
            <a:off x="3268980" y="1097280"/>
            <a:ext cx="54864" cy="150876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Step 2 head"/>
          <p:cNvSpPr txBox="1"/>
          <p:nvPr/>
        </p:nvSpPr>
        <p:spPr>
          <a:xfrm>
            <a:off x="3451860" y="120700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2. Monthly series</a:t>
            </a:r>
            <a:endParaRPr lang="en-US" sz="1400" dirty="0"/>
          </a:p>
        </p:txBody>
      </p:sp>
      <p:sp>
        <p:nvSpPr>
          <p:cNvPr id="10" name="Step 2 body"/>
          <p:cNvSpPr txBox="1"/>
          <p:nvPr/>
        </p:nvSpPr>
        <p:spPr>
          <a:xfrm>
            <a:off x="3451860" y="1627632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Average daily prices to months, fill gaps.</a:t>
            </a:r>
            <a:endParaRPr lang="en-US" sz="1400" dirty="0"/>
          </a:p>
        </p:txBody>
      </p:sp>
      <p:sp>
        <p:nvSpPr>
          <p:cNvPr id="11" name="Step 3 card"/>
          <p:cNvSpPr/>
          <p:nvPr/>
        </p:nvSpPr>
        <p:spPr>
          <a:xfrm>
            <a:off x="6080760" y="1097280"/>
            <a:ext cx="2606040" cy="15087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tep 3 accent"/>
          <p:cNvSpPr/>
          <p:nvPr/>
        </p:nvSpPr>
        <p:spPr>
          <a:xfrm>
            <a:off x="6080760" y="1097280"/>
            <a:ext cx="54864" cy="150876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Step 3 head"/>
          <p:cNvSpPr txBox="1"/>
          <p:nvPr/>
        </p:nvSpPr>
        <p:spPr>
          <a:xfrm>
            <a:off x="6263640" y="120700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3. Explore</a:t>
            </a:r>
            <a:endParaRPr lang="en-US" sz="1400" dirty="0"/>
          </a:p>
        </p:txBody>
      </p:sp>
      <p:sp>
        <p:nvSpPr>
          <p:cNvPr id="14" name="Step 3 body"/>
          <p:cNvSpPr txBox="1"/>
          <p:nvPr/>
        </p:nvSpPr>
        <p:spPr>
          <a:xfrm>
            <a:off x="6263640" y="1627632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Summary table, heatmap, yearly average bars.</a:t>
            </a:r>
            <a:endParaRPr lang="en-US" sz="1400" dirty="0"/>
          </a:p>
        </p:txBody>
      </p:sp>
      <p:sp>
        <p:nvSpPr>
          <p:cNvPr id="15" name="Step 4 card"/>
          <p:cNvSpPr/>
          <p:nvPr/>
        </p:nvSpPr>
        <p:spPr>
          <a:xfrm>
            <a:off x="457200" y="2788920"/>
            <a:ext cx="2606040" cy="15087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tep 4 accent"/>
          <p:cNvSpPr/>
          <p:nvPr/>
        </p:nvSpPr>
        <p:spPr>
          <a:xfrm>
            <a:off x="457200" y="2788920"/>
            <a:ext cx="54864" cy="150876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Step 4 head"/>
          <p:cNvSpPr txBox="1"/>
          <p:nvPr/>
        </p:nvSpPr>
        <p:spPr>
          <a:xfrm>
            <a:off x="640080" y="289864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4. Train / test</a:t>
            </a:r>
            <a:endParaRPr lang="en-US" sz="1400" dirty="0"/>
          </a:p>
        </p:txBody>
      </p:sp>
      <p:sp>
        <p:nvSpPr>
          <p:cNvPr id="18" name="Step 4 body"/>
          <p:cNvSpPr txBox="1"/>
          <p:nvPr/>
        </p:nvSpPr>
        <p:spPr>
          <a:xfrm>
            <a:off x="640080" y="3319272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Hold out the last 12 months for testing.</a:t>
            </a:r>
            <a:endParaRPr lang="en-US" sz="1400" dirty="0"/>
          </a:p>
        </p:txBody>
      </p:sp>
      <p:sp>
        <p:nvSpPr>
          <p:cNvPr id="19" name="Step 5 card"/>
          <p:cNvSpPr/>
          <p:nvPr/>
        </p:nvSpPr>
        <p:spPr>
          <a:xfrm>
            <a:off x="3268980" y="2788920"/>
            <a:ext cx="2606040" cy="15087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Step 5 accent"/>
          <p:cNvSpPr/>
          <p:nvPr/>
        </p:nvSpPr>
        <p:spPr>
          <a:xfrm>
            <a:off x="3268980" y="2788920"/>
            <a:ext cx="54864" cy="150876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Step 5 head"/>
          <p:cNvSpPr txBox="1"/>
          <p:nvPr/>
        </p:nvSpPr>
        <p:spPr>
          <a:xfrm>
            <a:off x="3451860" y="289864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5. Fit models</a:t>
            </a:r>
            <a:endParaRPr lang="en-US" sz="1400" dirty="0"/>
          </a:p>
        </p:txBody>
      </p:sp>
      <p:sp>
        <p:nvSpPr>
          <p:cNvPr id="22" name="Step 5 body"/>
          <p:cNvSpPr txBox="1"/>
          <p:nvPr/>
        </p:nvSpPr>
        <p:spPr>
          <a:xfrm>
            <a:off x="3451860" y="3319272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Baseline, moving average and SARIMA.</a:t>
            </a:r>
            <a:endParaRPr lang="en-US" sz="1400" dirty="0"/>
          </a:p>
        </p:txBody>
      </p:sp>
      <p:sp>
        <p:nvSpPr>
          <p:cNvPr id="23" name="Step 6 card"/>
          <p:cNvSpPr/>
          <p:nvPr/>
        </p:nvSpPr>
        <p:spPr>
          <a:xfrm>
            <a:off x="6080760" y="2788920"/>
            <a:ext cx="2606040" cy="15087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Step 6 accent"/>
          <p:cNvSpPr/>
          <p:nvPr/>
        </p:nvSpPr>
        <p:spPr>
          <a:xfrm>
            <a:off x="6080760" y="2788920"/>
            <a:ext cx="54864" cy="150876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Step 6 head"/>
          <p:cNvSpPr txBox="1"/>
          <p:nvPr/>
        </p:nvSpPr>
        <p:spPr>
          <a:xfrm>
            <a:off x="6263640" y="289864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6. Forecast</a:t>
            </a:r>
            <a:endParaRPr lang="en-US" sz="1400" dirty="0"/>
          </a:p>
        </p:txBody>
      </p:sp>
      <p:sp>
        <p:nvSpPr>
          <p:cNvPr id="26" name="Step 6 body"/>
          <p:cNvSpPr txBox="1"/>
          <p:nvPr/>
        </p:nvSpPr>
        <p:spPr>
          <a:xfrm>
            <a:off x="6263640" y="3319272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Best model refitted; results shown in a Shiny dashboard in Rs/kg.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7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Results: Brinjal, Telangana (modal price)</a:t>
            </a:r>
            <a:endParaRPr lang="en-US" sz="2400" dirty="0"/>
          </a:p>
        </p:txBody>
      </p:sp>
      <p:graphicFrame>
        <p:nvGraphicFramePr>
          <p:cNvPr id="8" name="Metric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493776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005840"/>
                <a:gridCol w="1005840"/>
                <a:gridCol w="10058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MAE (Rs/kg)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RMSE (Rs/kg)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MAPE (%)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</a:rPr>
                        <a:t>Baseline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</a:rPr>
                        <a:t>6.66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</a:rPr>
                        <a:t>8.59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</a:rPr>
                        <a:t>32.93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</a:rPr>
                        <a:t>Moving average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</a:rPr>
                        <a:t>11.23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</a:rPr>
                        <a:t>12.36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</a:rPr>
                        <a:t>71.17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</a:rPr>
                        <a:t>SARIMA (selected)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</a:rPr>
                        <a:t>7.59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</a:rPr>
                        <a:t>8.46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</a:rPr>
                        <a:t>42.31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E5"/>
                    </a:solidFill>
                  </a:tcPr>
                </a:tc>
              </a:tr>
            </a:tbl>
          </a:graphicData>
        </a:graphic>
      </p:graphicFrame>
      <p:sp>
        <p:nvSpPr>
          <p:cNvPr id="4" name="Findings card"/>
          <p:cNvSpPr/>
          <p:nvPr/>
        </p:nvSpPr>
        <p:spPr>
          <a:xfrm>
            <a:off x="5669280" y="1097280"/>
            <a:ext cx="3017520" cy="32918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Findings accent"/>
          <p:cNvSpPr/>
          <p:nvPr/>
        </p:nvSpPr>
        <p:spPr>
          <a:xfrm>
            <a:off x="5669280" y="1097280"/>
            <a:ext cx="54864" cy="32918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Findings head"/>
          <p:cNvSpPr txBox="1"/>
          <p:nvPr/>
        </p:nvSpPr>
        <p:spPr>
          <a:xfrm>
            <a:off x="5870448" y="12344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What this shows</a:t>
            </a:r>
            <a:endParaRPr lang="en-US" sz="1500" dirty="0"/>
          </a:p>
        </p:txBody>
      </p:sp>
      <p:sp>
        <p:nvSpPr>
          <p:cNvPr id="7" name="Findings body"/>
          <p:cNvSpPr txBox="1"/>
          <p:nvPr/>
        </p:nvSpPr>
        <p:spPr>
          <a:xfrm>
            <a:off x="5870448" y="1737360"/>
            <a:ext cx="265176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SARIMA has the lowest RMSE (8.46), so it is selected. Baseline has the lowest MAE (6.66). Moving average is clearly the weakest.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SARIMA's edge over the baseline is small, so forecasts should be treated as estimates, not guarantees.</a:t>
            </a:r>
            <a:endParaRPr lang="en-US" sz="1400" dirty="0"/>
          </a:p>
        </p:txBody>
      </p:sp>
      <p:sp>
        <p:nvSpPr>
          <p:cNvPr id="8" name="Table note"/>
          <p:cNvSpPr txBox="1"/>
          <p:nvPr/>
        </p:nvSpPr>
        <p:spPr>
          <a:xfrm>
            <a:off x="457200" y="32004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780"/>
                </a:solidFill>
              </a:rPr>
              <a:t>Test period: last 12 months of available data. Errors in Rs per kg.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7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2026 forecast and conclusion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005840"/>
          <a:ext cx="539496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onclusion card"/>
          <p:cNvSpPr/>
          <p:nvPr/>
        </p:nvSpPr>
        <p:spPr>
          <a:xfrm>
            <a:off x="5943600" y="1005840"/>
            <a:ext cx="2743200" cy="35661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Conclusion accent"/>
          <p:cNvSpPr/>
          <p:nvPr/>
        </p:nvSpPr>
        <p:spPr>
          <a:xfrm>
            <a:off x="5943600" y="1005840"/>
            <a:ext cx="54864" cy="356616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Conclusion head"/>
          <p:cNvSpPr txBox="1"/>
          <p:nvPr/>
        </p:nvSpPr>
        <p:spPr>
          <a:xfrm>
            <a:off x="6144768" y="11430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Key points</a:t>
            </a:r>
            <a:endParaRPr lang="en-US" sz="1500" dirty="0"/>
          </a:p>
        </p:txBody>
      </p:sp>
      <p:sp>
        <p:nvSpPr>
          <p:cNvPr id="7" name="Conclusion body"/>
          <p:cNvSpPr txBox="1"/>
          <p:nvPr/>
        </p:nvSpPr>
        <p:spPr>
          <a:xfrm>
            <a:off x="6144768" y="1645920"/>
            <a:ext cx="237744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Peak: October 2026 at Rs 38.22/kg.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Lowest: March 2026 at Rs 15.26/kg.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SARIMA captures a clear seasonal rise from March to October.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Limits: accuracy falls for later years, and the test uses only 12 months.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7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gri Price Deck">
  <a:themeElements>
    <a:clrScheme name="Agri Price Deck">
      <a:dk1>
        <a:srgbClr val="1F2933"/>
      </a:dk1>
      <a:lt1>
        <a:srgbClr val="FFFFFF"/>
      </a:lt1>
      <a:dk2>
        <a:srgbClr val="1F3A5F"/>
      </a:dk2>
      <a:lt2>
        <a:srgbClr val="F3F5F4"/>
      </a:lt2>
      <a:accent1>
        <a:srgbClr val="2E7D5B"/>
      </a:accent1>
      <a:accent2>
        <a:srgbClr val="1F3A5F"/>
      </a:accent2>
      <a:accent3>
        <a:srgbClr val="5B9BD5"/>
      </a:accent3>
      <a:accent4>
        <a:srgbClr val="D9534F"/>
      </a:accent4>
      <a:accent5>
        <a:srgbClr val="8A9BA8"/>
      </a:accent5>
      <a:accent6>
        <a:srgbClr val="E0A800"/>
      </a:accent6>
      <a:hlink>
        <a:srgbClr val="2E7D5B"/>
      </a:hlink>
      <a:folHlink>
        <a:srgbClr val="8A9BA8"/>
      </a:folHlink>
    </a:clrScheme>
    <a:fontScheme name="Agri Price Deck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2026-10-15T21:04:26Z</dcterms:created>
  <dcterms:modified xsi:type="dcterms:W3CDTF">2026-10-15T21:04:26Z</dcterms:modified>
</cp:coreProperties>
</file>